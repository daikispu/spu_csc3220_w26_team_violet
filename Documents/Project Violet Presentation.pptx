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47DCB-477E-9F4E-2FF3-BFD13619370D}" v="133" dt="2026-01-29T18:21:24.696"/>
    <p1510:client id="{9E051727-CF55-0390-BE20-9BDC6670193F}" v="6" dt="2026-01-27T22:11:33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62"/>
    <p:restoredTop sz="94732"/>
  </p:normalViewPr>
  <p:slideViewPr>
    <p:cSldViewPr snapToGrid="0">
      <p:cViewPr>
        <p:scale>
          <a:sx n="155" d="100"/>
          <a:sy n="155" d="100"/>
        </p:scale>
        <p:origin x="960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giwara, Daiki" userId="S::hagiwarad@spu.edu::89cf99e7-4abe-4cba-9d2b-f2702f587dcf" providerId="AD" clId="Web-{2FE47DCB-477E-9F4E-2FF3-BFD13619370D}"/>
    <pc:docChg chg="addSld modSld">
      <pc:chgData name="Hagiwara, Daiki" userId="S::hagiwarad@spu.edu::89cf99e7-4abe-4cba-9d2b-f2702f587dcf" providerId="AD" clId="Web-{2FE47DCB-477E-9F4E-2FF3-BFD13619370D}" dt="2026-01-29T18:21:24.696" v="127" actId="20577"/>
      <pc:docMkLst>
        <pc:docMk/>
      </pc:docMkLst>
      <pc:sldChg chg="modSp new">
        <pc:chgData name="Hagiwara, Daiki" userId="S::hagiwarad@spu.edu::89cf99e7-4abe-4cba-9d2b-f2702f587dcf" providerId="AD" clId="Web-{2FE47DCB-477E-9F4E-2FF3-BFD13619370D}" dt="2026-01-29T18:21:24.696" v="127" actId="20577"/>
        <pc:sldMkLst>
          <pc:docMk/>
          <pc:sldMk cId="1017415586" sldId="259"/>
        </pc:sldMkLst>
        <pc:spChg chg="mod">
          <ac:chgData name="Hagiwara, Daiki" userId="S::hagiwarad@spu.edu::89cf99e7-4abe-4cba-9d2b-f2702f587dcf" providerId="AD" clId="Web-{2FE47DCB-477E-9F4E-2FF3-BFD13619370D}" dt="2026-01-29T18:15:12.522" v="13" actId="20577"/>
          <ac:spMkLst>
            <pc:docMk/>
            <pc:sldMk cId="1017415586" sldId="259"/>
            <ac:spMk id="2" creationId="{4B9A16B6-0E45-1F79-3FE8-19C8D30DD02B}"/>
          </ac:spMkLst>
        </pc:spChg>
        <pc:spChg chg="mod">
          <ac:chgData name="Hagiwara, Daiki" userId="S::hagiwarad@spu.edu::89cf99e7-4abe-4cba-9d2b-f2702f587dcf" providerId="AD" clId="Web-{2FE47DCB-477E-9F4E-2FF3-BFD13619370D}" dt="2026-01-29T18:21:24.696" v="127" actId="20577"/>
          <ac:spMkLst>
            <pc:docMk/>
            <pc:sldMk cId="1017415586" sldId="259"/>
            <ac:spMk id="3" creationId="{605B035D-B43A-B9BA-22AF-7D385DA0676E}"/>
          </ac:spMkLst>
        </pc:spChg>
      </pc:sldChg>
      <pc:sldChg chg="modSp new">
        <pc:chgData name="Hagiwara, Daiki" userId="S::hagiwarad@spu.edu::89cf99e7-4abe-4cba-9d2b-f2702f587dcf" providerId="AD" clId="Web-{2FE47DCB-477E-9F4E-2FF3-BFD13619370D}" dt="2026-01-29T18:21:05.352" v="124" actId="20577"/>
        <pc:sldMkLst>
          <pc:docMk/>
          <pc:sldMk cId="1533844853" sldId="260"/>
        </pc:sldMkLst>
        <pc:spChg chg="mod">
          <ac:chgData name="Hagiwara, Daiki" userId="S::hagiwarad@spu.edu::89cf99e7-4abe-4cba-9d2b-f2702f587dcf" providerId="AD" clId="Web-{2FE47DCB-477E-9F4E-2FF3-BFD13619370D}" dt="2026-01-29T18:15:34.680" v="19" actId="20577"/>
          <ac:spMkLst>
            <pc:docMk/>
            <pc:sldMk cId="1533844853" sldId="260"/>
            <ac:spMk id="2" creationId="{C26F6933-D89E-98C4-96D6-F509244166C0}"/>
          </ac:spMkLst>
        </pc:spChg>
        <pc:spChg chg="mod">
          <ac:chgData name="Hagiwara, Daiki" userId="S::hagiwarad@spu.edu::89cf99e7-4abe-4cba-9d2b-f2702f587dcf" providerId="AD" clId="Web-{2FE47DCB-477E-9F4E-2FF3-BFD13619370D}" dt="2026-01-29T18:21:05.352" v="124" actId="20577"/>
          <ac:spMkLst>
            <pc:docMk/>
            <pc:sldMk cId="1533844853" sldId="260"/>
            <ac:spMk id="3" creationId="{0F555685-E442-412C-A64D-4C28B341BB78}"/>
          </ac:spMkLst>
        </pc:spChg>
      </pc:sldChg>
      <pc:sldChg chg="modSp new">
        <pc:chgData name="Hagiwara, Daiki" userId="S::hagiwarad@spu.edu::89cf99e7-4abe-4cba-9d2b-f2702f587dcf" providerId="AD" clId="Web-{2FE47DCB-477E-9F4E-2FF3-BFD13619370D}" dt="2026-01-29T18:20:46.476" v="119" actId="20577"/>
        <pc:sldMkLst>
          <pc:docMk/>
          <pc:sldMk cId="1312629404" sldId="261"/>
        </pc:sldMkLst>
        <pc:spChg chg="mod">
          <ac:chgData name="Hagiwara, Daiki" userId="S::hagiwarad@spu.edu::89cf99e7-4abe-4cba-9d2b-f2702f587dcf" providerId="AD" clId="Web-{2FE47DCB-477E-9F4E-2FF3-BFD13619370D}" dt="2026-01-29T18:19:06.020" v="106" actId="20577"/>
          <ac:spMkLst>
            <pc:docMk/>
            <pc:sldMk cId="1312629404" sldId="261"/>
            <ac:spMk id="2" creationId="{909D9186-53A6-2F74-61A6-B3FA3317C072}"/>
          </ac:spMkLst>
        </pc:spChg>
        <pc:spChg chg="mod">
          <ac:chgData name="Hagiwara, Daiki" userId="S::hagiwarad@spu.edu::89cf99e7-4abe-4cba-9d2b-f2702f587dcf" providerId="AD" clId="Web-{2FE47DCB-477E-9F4E-2FF3-BFD13619370D}" dt="2026-01-29T18:20:46.476" v="119" actId="20577"/>
          <ac:spMkLst>
            <pc:docMk/>
            <pc:sldMk cId="1312629404" sldId="261"/>
            <ac:spMk id="3" creationId="{C8A7EBE4-B003-3ADF-5D1F-FF32882B4E49}"/>
          </ac:spMkLst>
        </pc:spChg>
      </pc:sldChg>
    </pc:docChg>
  </pc:docChgLst>
  <pc:docChgLst>
    <pc:chgData name="Hagiwara, Daiki" userId="S::hagiwarad@spu.edu::89cf99e7-4abe-4cba-9d2b-f2702f587dcf" providerId="AD" clId="Web-{9E051727-CF55-0390-BE20-9BDC6670193F}"/>
    <pc:docChg chg="modSld">
      <pc:chgData name="Hagiwara, Daiki" userId="S::hagiwarad@spu.edu::89cf99e7-4abe-4cba-9d2b-f2702f587dcf" providerId="AD" clId="Web-{9E051727-CF55-0390-BE20-9BDC6670193F}" dt="2026-01-27T22:11:33.136" v="5" actId="20577"/>
      <pc:docMkLst>
        <pc:docMk/>
      </pc:docMkLst>
      <pc:sldChg chg="modSp">
        <pc:chgData name="Hagiwara, Daiki" userId="S::hagiwarad@spu.edu::89cf99e7-4abe-4cba-9d2b-f2702f587dcf" providerId="AD" clId="Web-{9E051727-CF55-0390-BE20-9BDC6670193F}" dt="2026-01-27T22:11:33.136" v="5" actId="20577"/>
        <pc:sldMkLst>
          <pc:docMk/>
          <pc:sldMk cId="244651000" sldId="258"/>
        </pc:sldMkLst>
        <pc:spChg chg="mod">
          <ac:chgData name="Hagiwara, Daiki" userId="S::hagiwarad@spu.edu::89cf99e7-4abe-4cba-9d2b-f2702f587dcf" providerId="AD" clId="Web-{9E051727-CF55-0390-BE20-9BDC6670193F}" dt="2026-01-27T22:11:33.136" v="5" actId="20577"/>
          <ac:spMkLst>
            <pc:docMk/>
            <pc:sldMk cId="244651000" sldId="258"/>
            <ac:spMk id="9" creationId="{674AEDC8-7330-978A-23D6-B1243A78F52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8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8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8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49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36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5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84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63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50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76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0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2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12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61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09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619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41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3527283" y="1857885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A purple and blue lines and squares&#10;&#10;AI-generated content may be incorrect.">
            <a:extLst>
              <a:ext uri="{FF2B5EF4-FFF2-40B4-BE49-F238E27FC236}">
                <a16:creationId xmlns:a16="http://schemas.microsoft.com/office/drawing/2014/main" id="{AC713B58-CD89-7CBE-C9F8-FBAB5B8B21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73" r="35820"/>
          <a:stretch>
            <a:fillRect/>
          </a:stretch>
        </p:blipFill>
        <p:spPr>
          <a:xfrm>
            <a:off x="423337" y="402166"/>
            <a:ext cx="4932951" cy="6053670"/>
          </a:xfrm>
          <a:custGeom>
            <a:avLst/>
            <a:gdLst/>
            <a:ahLst/>
            <a:cxnLst/>
            <a:rect l="l" t="t" r="r" b="b"/>
            <a:pathLst>
              <a:path w="4932951" h="6053670">
                <a:moveTo>
                  <a:pt x="0" y="0"/>
                </a:moveTo>
                <a:lnTo>
                  <a:pt x="3678393" y="0"/>
                </a:lnTo>
                <a:lnTo>
                  <a:pt x="4478865" y="0"/>
                </a:lnTo>
                <a:lnTo>
                  <a:pt x="4931853" y="0"/>
                </a:lnTo>
                <a:lnTo>
                  <a:pt x="4908487" y="137419"/>
                </a:lnTo>
                <a:lnTo>
                  <a:pt x="4886218" y="274232"/>
                </a:lnTo>
                <a:lnTo>
                  <a:pt x="4864421" y="411650"/>
                </a:lnTo>
                <a:lnTo>
                  <a:pt x="4845759" y="549673"/>
                </a:lnTo>
                <a:lnTo>
                  <a:pt x="4826941" y="687092"/>
                </a:lnTo>
                <a:lnTo>
                  <a:pt x="4809377" y="825115"/>
                </a:lnTo>
                <a:lnTo>
                  <a:pt x="4794322" y="961323"/>
                </a:lnTo>
                <a:lnTo>
                  <a:pt x="4780052" y="1099347"/>
                </a:lnTo>
                <a:lnTo>
                  <a:pt x="4767035" y="1236765"/>
                </a:lnTo>
                <a:lnTo>
                  <a:pt x="4755744" y="1371761"/>
                </a:lnTo>
                <a:lnTo>
                  <a:pt x="4744453" y="1508574"/>
                </a:lnTo>
                <a:lnTo>
                  <a:pt x="4735044" y="1643572"/>
                </a:lnTo>
                <a:lnTo>
                  <a:pt x="4727674" y="1778568"/>
                </a:lnTo>
                <a:lnTo>
                  <a:pt x="4719990" y="1912960"/>
                </a:lnTo>
                <a:lnTo>
                  <a:pt x="4713560" y="2046141"/>
                </a:lnTo>
                <a:lnTo>
                  <a:pt x="4709012" y="2178111"/>
                </a:lnTo>
                <a:lnTo>
                  <a:pt x="4705092" y="2310081"/>
                </a:lnTo>
                <a:lnTo>
                  <a:pt x="4701328" y="2440840"/>
                </a:lnTo>
                <a:lnTo>
                  <a:pt x="4699603" y="2569783"/>
                </a:lnTo>
                <a:lnTo>
                  <a:pt x="4697721" y="2698726"/>
                </a:lnTo>
                <a:lnTo>
                  <a:pt x="4696780" y="2825853"/>
                </a:lnTo>
                <a:lnTo>
                  <a:pt x="4697721" y="2951770"/>
                </a:lnTo>
                <a:lnTo>
                  <a:pt x="4697721" y="3076475"/>
                </a:lnTo>
                <a:lnTo>
                  <a:pt x="4699603" y="3199970"/>
                </a:lnTo>
                <a:lnTo>
                  <a:pt x="4702426" y="3321043"/>
                </a:lnTo>
                <a:lnTo>
                  <a:pt x="4705092" y="3440906"/>
                </a:lnTo>
                <a:lnTo>
                  <a:pt x="4708071" y="3558347"/>
                </a:lnTo>
                <a:lnTo>
                  <a:pt x="4712619" y="3675183"/>
                </a:lnTo>
                <a:lnTo>
                  <a:pt x="4717480" y="3790203"/>
                </a:lnTo>
                <a:lnTo>
                  <a:pt x="4721871" y="3902801"/>
                </a:lnTo>
                <a:lnTo>
                  <a:pt x="4734260" y="4122549"/>
                </a:lnTo>
                <a:lnTo>
                  <a:pt x="4747433" y="4333217"/>
                </a:lnTo>
                <a:lnTo>
                  <a:pt x="4761233" y="4535409"/>
                </a:lnTo>
                <a:lnTo>
                  <a:pt x="4776445" y="4726705"/>
                </a:lnTo>
                <a:lnTo>
                  <a:pt x="4792283" y="4909526"/>
                </a:lnTo>
                <a:lnTo>
                  <a:pt x="4809377" y="5079029"/>
                </a:lnTo>
                <a:lnTo>
                  <a:pt x="4826157" y="5238240"/>
                </a:lnTo>
                <a:lnTo>
                  <a:pt x="4842936" y="5384739"/>
                </a:lnTo>
                <a:lnTo>
                  <a:pt x="4858775" y="5519131"/>
                </a:lnTo>
                <a:lnTo>
                  <a:pt x="4873830" y="5638388"/>
                </a:lnTo>
                <a:lnTo>
                  <a:pt x="4888100" y="5746143"/>
                </a:lnTo>
                <a:lnTo>
                  <a:pt x="4900019" y="5836948"/>
                </a:lnTo>
                <a:lnTo>
                  <a:pt x="4911310" y="5913225"/>
                </a:lnTo>
                <a:lnTo>
                  <a:pt x="4927462" y="6017953"/>
                </a:lnTo>
                <a:lnTo>
                  <a:pt x="4932951" y="6053670"/>
                </a:lnTo>
                <a:lnTo>
                  <a:pt x="4478865" y="6053670"/>
                </a:lnTo>
                <a:lnTo>
                  <a:pt x="3683097" y="6053670"/>
                </a:lnTo>
                <a:lnTo>
                  <a:pt x="0" y="6053670"/>
                </a:lnTo>
                <a:close/>
              </a:path>
            </a:pathLst>
          </a:custGeom>
        </p:spPr>
      </p:pic>
      <p:sp>
        <p:nvSpPr>
          <p:cNvPr id="12" name="Freeform 5">
            <a:extLst>
              <a:ext uri="{FF2B5EF4-FFF2-40B4-BE49-F238E27FC236}">
                <a16:creationId xmlns:a16="http://schemas.microsoft.com/office/drawing/2014/main" id="{1AD5EB79-7F9A-4BBC-92A5-188382CBA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9CC1CD-E794-600D-DAAD-96F672249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3014" y="941295"/>
            <a:ext cx="5428551" cy="16428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Project Violet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4C05B-95A3-8729-F9CF-65E828B85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9758" y="2865744"/>
            <a:ext cx="5428551" cy="2387573"/>
          </a:xfrm>
        </p:spPr>
        <p:txBody>
          <a:bodyPr>
            <a:normAutofit fontScale="92500" lnSpcReduction="10000"/>
          </a:bodyPr>
          <a:lstStyle/>
          <a:p>
            <a:endParaRPr lang="en-US" cap="none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cap="none" dirty="0">
                <a:solidFill>
                  <a:srgbClr val="92D050"/>
                </a:solidFill>
              </a:rPr>
              <a:t>A High-Frequency Limit Order Book Simulation</a:t>
            </a:r>
          </a:p>
          <a:p>
            <a:r>
              <a:rPr lang="en-US" cap="none" dirty="0">
                <a:solidFill>
                  <a:schemeClr val="bg1">
                    <a:lumMod val="95000"/>
                  </a:schemeClr>
                </a:solidFill>
              </a:rPr>
              <a:t>Black Box Model of Consumer Behavior conceptualizes market decisions as inputs (stimuli) that lead to outputs (responses).</a:t>
            </a:r>
          </a:p>
          <a:p>
            <a:r>
              <a:rPr lang="en-US" cap="none" dirty="0">
                <a:solidFill>
                  <a:schemeClr val="bg1">
                    <a:lumMod val="95000"/>
                  </a:schemeClr>
                </a:solidFill>
              </a:rPr>
              <a:t>The user must analyze the data to expose human nature in the stock market, such as the Panic Seller or Greed, and exploit them for profit.</a:t>
            </a:r>
          </a:p>
          <a:p>
            <a:endParaRPr lang="en-US" cap="none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B8A17F-DC3A-4D9A-AA53-9BFB894CD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0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0F67-06A1-49A7-AE19-52864D74F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The Architecture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A7DE5091-6EAD-A293-4228-F9F19BEDB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3481054" cy="34163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A C++ Limit Order Book that enforces strict financial rules.</a:t>
            </a:r>
          </a:p>
          <a:p>
            <a:pPr marL="0" indent="0">
              <a:buNone/>
            </a:pPr>
            <a:r>
              <a:rPr lang="en-US" sz="1600" dirty="0"/>
              <a:t>The Database: A Relational Database that uses CRUD.</a:t>
            </a:r>
          </a:p>
          <a:p>
            <a:pPr marL="0" indent="0">
              <a:buNone/>
            </a:pPr>
            <a:r>
              <a:rPr lang="en-US" sz="1600" dirty="0"/>
              <a:t>High-Frequency Simulation: The 5 bots with 5 Algorithms will run in parallel loops, generating hundreds of orders per minute to simulate a hysterical stock market.</a:t>
            </a:r>
          </a:p>
        </p:txBody>
      </p:sp>
      <p:pic>
        <p:nvPicPr>
          <p:cNvPr id="5" name="Content Placeholder 4" descr="A diagram of a machine&#10;&#10;AI-generated content may be incorrect.">
            <a:extLst>
              <a:ext uri="{FF2B5EF4-FFF2-40B4-BE49-F238E27FC236}">
                <a16:creationId xmlns:a16="http://schemas.microsoft.com/office/drawing/2014/main" id="{A264DDC7-5705-4A48-4186-26CF27FA4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390" y="2603500"/>
            <a:ext cx="6645838" cy="358875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8862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 shot of a graph&#10;&#10;AI-generated content may be incorrect.">
            <a:extLst>
              <a:ext uri="{FF2B5EF4-FFF2-40B4-BE49-F238E27FC236}">
                <a16:creationId xmlns:a16="http://schemas.microsoft.com/office/drawing/2014/main" id="{C94C1CF3-478B-35A2-86B2-7CC4478633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64" r="1" b="28651"/>
          <a:stretch>
            <a:fillRect/>
          </a:stretch>
        </p:blipFill>
        <p:spPr>
          <a:xfrm>
            <a:off x="477085" y="466162"/>
            <a:ext cx="11237832" cy="3937502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12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42856" y="3128074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58392"/>
            <a:ext cx="12192000" cy="3033446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C91E93A7-6C7F-4F77-9CB0-280D958EF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E48066-CCAB-7493-75F2-F2C2D6EB5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4110824"/>
            <a:ext cx="5015258" cy="19089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Ladder (Depth of Market)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4AEDC8-7330-978A-23D6-B1243A78F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5894" y="3954006"/>
            <a:ext cx="4901706" cy="2347939"/>
          </a:xfrm>
        </p:spPr>
        <p:txBody>
          <a:bodyPr anchor="ctr"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The ladder of liquidity ensures higher foresight.</a:t>
            </a:r>
          </a:p>
          <a:p>
            <a:r>
              <a:rPr lang="en-US" dirty="0">
                <a:solidFill>
                  <a:schemeClr val="tx1"/>
                </a:solidFill>
              </a:rPr>
              <a:t>Allows strategic maneuver such as a Sacrifice Play – intentionally eating through liquidity walls to trigger panic.</a:t>
            </a:r>
          </a:p>
          <a:p>
            <a:r>
              <a:rPr lang="en-US" dirty="0">
                <a:solidFill>
                  <a:schemeClr val="tx1"/>
                </a:solidFill>
              </a:rPr>
              <a:t>Project Violet turns relational Database and Business Logic into a strategic battle between the lower-class and the elite class.</a:t>
            </a:r>
          </a:p>
        </p:txBody>
      </p:sp>
    </p:spTree>
    <p:extLst>
      <p:ext uri="{BB962C8B-B14F-4D97-AF65-F5344CB8AC3E}">
        <p14:creationId xmlns:p14="http://schemas.microsoft.com/office/powerpoint/2010/main" val="244651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A16B6-0E45-1F79-3FE8-19C8D30DD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Core System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B035D-B43A-B9BA-22AF-7D385DA06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Authentication &amp; Security</a:t>
            </a:r>
          </a:p>
          <a:p>
            <a:r>
              <a:rPr lang="en-US" b="1" dirty="0">
                <a:ea typeface="+mn-lt"/>
                <a:cs typeface="+mn-lt"/>
              </a:rPr>
              <a:t>Login Function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User authentication via username, password, and PIN to load a personalized trading state.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Order Confirmation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User approval required for all trades; PIN verification enforced for sell orders and high-value transactions.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415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F6933-D89E-98C4-96D6-F5092441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Trading Operations (CRUD Model)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55685-E442-412C-A64D-4C28B341B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/>
            <a:r>
              <a:rPr lang="en-US" b="1" dirty="0">
                <a:ea typeface="+mn-lt"/>
                <a:cs typeface="+mn-lt"/>
              </a:rPr>
              <a:t>Place Limit Order (create)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Submit buy or sell limit orders after verifying sufficient cash or shares.</a:t>
            </a:r>
            <a:endParaRPr lang="en-US" dirty="0"/>
          </a:p>
          <a:p>
            <a:pPr marL="285750" indent="-285750"/>
            <a:r>
              <a:rPr lang="en-US" b="1" dirty="0">
                <a:ea typeface="+mn-lt"/>
                <a:cs typeface="+mn-lt"/>
              </a:rPr>
              <a:t>View Market Data (Read)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Display the order book with active orders grouped by price to visualize supply and demand.</a:t>
            </a:r>
            <a:endParaRPr lang="en-US" dirty="0"/>
          </a:p>
          <a:p>
            <a:pPr marL="285750" indent="-285750"/>
            <a:r>
              <a:rPr lang="en-US" b="1" dirty="0">
                <a:ea typeface="+mn-lt"/>
                <a:cs typeface="+mn-lt"/>
              </a:rPr>
              <a:t>Monitor Portfolio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Show real-time cash balance, owned shares, and total net worth based on market prices.</a:t>
            </a:r>
            <a:endParaRPr lang="en-US" dirty="0"/>
          </a:p>
          <a:p>
            <a:pPr marL="285750" indent="-285750"/>
            <a:r>
              <a:rPr lang="en-US" b="1" dirty="0">
                <a:ea typeface="+mn-lt"/>
                <a:cs typeface="+mn-lt"/>
              </a:rPr>
              <a:t>Modify Active Orders (Update)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Change the price of unfilled orders after revalidating available cash or shares.</a:t>
            </a:r>
            <a:endParaRPr lang="en-US" dirty="0"/>
          </a:p>
          <a:p>
            <a:pPr marL="285750" indent="-285750"/>
            <a:r>
              <a:rPr lang="en-US" b="1" dirty="0">
                <a:ea typeface="+mn-lt"/>
                <a:cs typeface="+mn-lt"/>
              </a:rPr>
              <a:t>Cancel Orders (Delete)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Cancel unfilled orders and immediately release reserved cash or shares.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844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9186-53A6-2F74-61A6-B3FA3317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Market Simulation Engine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7EBE4-B003-3ADF-5D1F-FF32882B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Matching Engine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Background process that matches buy and sell orders and executes trades when prices align.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Market Maker Algorithms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Five automated bot algorithms generate liquidity and drive price movement.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Pattern Generator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Bot behaviors are randomized at startup to create a unique market puzzle each session.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629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39</TotalTime>
  <Words>162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Ion Boardroom</vt:lpstr>
      <vt:lpstr>Project Violet</vt:lpstr>
      <vt:lpstr>The Architecture</vt:lpstr>
      <vt:lpstr>Ladder (Depth of Market)</vt:lpstr>
      <vt:lpstr>Core System Functions</vt:lpstr>
      <vt:lpstr>Trading Operations (CRUD Model)</vt:lpstr>
      <vt:lpstr>Market Simulation Engine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Nam</dc:creator>
  <cp:lastModifiedBy>Nguyen, Nam</cp:lastModifiedBy>
  <cp:revision>54</cp:revision>
  <dcterms:created xsi:type="dcterms:W3CDTF">2026-01-27T04:06:59Z</dcterms:created>
  <dcterms:modified xsi:type="dcterms:W3CDTF">2026-01-29T18:21:56Z</dcterms:modified>
</cp:coreProperties>
</file>
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47DCB-477E-9F4E-2FF3-BFD13619370D}" v="133" dt="2026-01-29T18:21:24.696"/>
    <p1510:client id="{9E051727-CF55-0390-BE20-9BDC6670193F}" v="6" dt="2026-01-27T22:11:33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2"/>
    <p:restoredTop sz="94732"/>
  </p:normalViewPr>
  <p:slideViewPr>
    <p:cSldViewPr snapToGrid="0">
      <p:cViewPr>
        <p:scale>
          <a:sx n="155" d="100"/>
          <a:sy n="155" d="100"/>
        </p:scale>
        <p:origin x="96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8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8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49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36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5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8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63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50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76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0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2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12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61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09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19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8C16A62-8821-F34F-B801-492B9499ABB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9E3E297-0882-4641-AD30-09590BB4E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41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27283" y="185788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purple and blue lines and squares&#10;&#10;AI-generated content may be incorrect.">
            <a:extLst>
              <a:ext uri="{FF2B5EF4-FFF2-40B4-BE49-F238E27FC236}">
                <a16:creationId xmlns:a16="http://schemas.microsoft.com/office/drawing/2014/main" id="{AC713B58-CD89-7CBE-C9F8-FBAB5B8B21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73" r="35820"/>
          <a:stretch>
            <a:fillRect/>
          </a:stretch>
        </p:blipFill>
        <p:spPr>
          <a:xfrm>
            <a:off x="423337" y="402166"/>
            <a:ext cx="4932951" cy="6053670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9CC1CD-E794-600D-DAAD-96F672249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3014" y="941295"/>
            <a:ext cx="5428551" cy="16428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Project Violet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4C05B-95A3-8729-F9CF-65E828B85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9758" y="2865744"/>
            <a:ext cx="5428551" cy="2387573"/>
          </a:xfrm>
        </p:spPr>
        <p:txBody>
          <a:bodyPr>
            <a:normAutofit fontScale="92500" lnSpcReduction="10000"/>
          </a:bodyPr>
          <a:lstStyle/>
          <a:p>
            <a:endParaRPr lang="en-US" cap="none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cap="none" dirty="0">
                <a:solidFill>
                  <a:srgbClr val="92D050"/>
                </a:solidFill>
              </a:rPr>
              <a:t>A High-Frequency Limit Order Book Simulation</a:t>
            </a:r>
          </a:p>
          <a:p>
            <a:r>
              <a:rPr lang="en-US" cap="none" dirty="0">
                <a:solidFill>
                  <a:schemeClr val="bg1">
                    <a:lumMod val="95000"/>
                  </a:schemeClr>
                </a:solidFill>
              </a:rPr>
              <a:t>Black Box Model of Consumer Behavior conceptualizes market decisions as inputs (stimuli) that lead to outputs (responses).</a:t>
            </a:r>
          </a:p>
          <a:p>
            <a:r>
              <a:rPr lang="en-US" cap="none" dirty="0">
                <a:solidFill>
                  <a:schemeClr val="bg1">
                    <a:lumMod val="95000"/>
                  </a:schemeClr>
                </a:solidFill>
              </a:rPr>
              <a:t>The user must analyze the data to expose human nature in the stock market, such as the Panic Seller or Greed, and exploit them for profit.</a:t>
            </a:r>
          </a:p>
          <a:p>
            <a:endParaRPr lang="en-US" cap="none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0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0F67-06A1-49A7-AE19-52864D74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The Architecture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A7DE5091-6EAD-A293-4228-F9F19BEDB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3481054" cy="34163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A C++ Limit Order Book that enforces strict financial rules.</a:t>
            </a:r>
          </a:p>
          <a:p>
            <a:pPr marL="0" indent="0">
              <a:buNone/>
            </a:pPr>
            <a:r>
              <a:rPr lang="en-US" sz="1600" dirty="0"/>
              <a:t>The Database: A Relational Database that uses CRUD.</a:t>
            </a:r>
          </a:p>
          <a:p>
            <a:pPr marL="0" indent="0">
              <a:buNone/>
            </a:pPr>
            <a:r>
              <a:rPr lang="en-US" sz="1600" dirty="0"/>
              <a:t>High-Frequency Simulation: The 5 bots with 5 Algorithms will run in parallel loops, generating hundreds of orders per minute to simulate a hysterical stock market.</a:t>
            </a:r>
          </a:p>
        </p:txBody>
      </p:sp>
      <p:pic>
        <p:nvPicPr>
          <p:cNvPr id="5" name="Content Placeholder 4" descr="A diagram of a machine&#10;&#10;AI-generated content may be incorrect.">
            <a:extLst>
              <a:ext uri="{FF2B5EF4-FFF2-40B4-BE49-F238E27FC236}">
                <a16:creationId xmlns:a16="http://schemas.microsoft.com/office/drawing/2014/main" id="{A264DDC7-5705-4A48-4186-26CF27FA4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390" y="2603500"/>
            <a:ext cx="6645838" cy="358875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886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C94C1CF3-478B-35A2-86B2-7CC4478633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64" r="1" b="28651"/>
          <a:stretch>
            <a:fillRect/>
          </a:stretch>
        </p:blipFill>
        <p:spPr>
          <a:xfrm>
            <a:off x="477085" y="466162"/>
            <a:ext cx="11237832" cy="3937502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12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2856" y="3128074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58392"/>
            <a:ext cx="12192000" cy="3033446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C91E93A7-6C7F-4F77-9CB0-280D958EF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48066-CCAB-7493-75F2-F2C2D6EB5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4110824"/>
            <a:ext cx="5015258" cy="19089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Ladder (Depth of Market)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4AEDC8-7330-978A-23D6-B1243A78F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5894" y="3954006"/>
            <a:ext cx="4901706" cy="2347939"/>
          </a:xfrm>
        </p:spPr>
        <p:txBody>
          <a:bodyPr anchor="ctr"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The ladder of liquidity ensures higher foresight.</a:t>
            </a:r>
          </a:p>
          <a:p>
            <a:r>
              <a:rPr lang="en-US" dirty="0">
                <a:solidFill>
                  <a:schemeClr val="tx1"/>
                </a:solidFill>
              </a:rPr>
              <a:t>Allows strategic maneuver such as a Sacrifice Play – intentionally eating through liquidity walls to trigger panic.</a:t>
            </a:r>
          </a:p>
          <a:p>
            <a:r>
              <a:rPr lang="en-US" dirty="0">
                <a:solidFill>
                  <a:schemeClr val="tx1"/>
                </a:solidFill>
              </a:rPr>
              <a:t>Project Violet turns relational Database and Business Logic into a strategic battle between the lower-class and the elite class.</a:t>
            </a:r>
          </a:p>
        </p:txBody>
      </p:sp>
    </p:spTree>
    <p:extLst>
      <p:ext uri="{BB962C8B-B14F-4D97-AF65-F5344CB8AC3E}">
        <p14:creationId xmlns:p14="http://schemas.microsoft.com/office/powerpoint/2010/main" val="244651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A16B6-0E45-1F79-3FE8-19C8D30D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Core System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B035D-B43A-B9BA-22AF-7D385DA06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Authentication &amp; Security</a:t>
            </a:r>
          </a:p>
          <a:p>
            <a:r>
              <a:rPr lang="en-US" b="1" dirty="0">
                <a:ea typeface="+mn-lt"/>
                <a:cs typeface="+mn-lt"/>
              </a:rPr>
              <a:t>Login Function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User authentication via username, password, and PIN to load a personalized trading state.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Order Confirmation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User approval required for all trades; PIN verification enforced for sell orders and high-value transactions.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415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6933-D89E-98C4-96D6-F5092441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Trading Operations (CRUD Model)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55685-E442-412C-A64D-4C28B341B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/>
            <a:r>
              <a:rPr lang="en-US" b="1" dirty="0">
                <a:ea typeface="+mn-lt"/>
                <a:cs typeface="+mn-lt"/>
              </a:rPr>
              <a:t>Place Limit Order (create)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Submit buy or sell limit orders after verifying sufficient cash or shares.</a:t>
            </a:r>
            <a:endParaRPr lang="en-US" dirty="0"/>
          </a:p>
          <a:p>
            <a:pPr marL="285750" indent="-285750"/>
            <a:r>
              <a:rPr lang="en-US" b="1" dirty="0">
                <a:ea typeface="+mn-lt"/>
                <a:cs typeface="+mn-lt"/>
              </a:rPr>
              <a:t>View Market Data (Read)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Display the order book with active orders grouped by price to visualize supply and demand.</a:t>
            </a:r>
            <a:endParaRPr lang="en-US" dirty="0"/>
          </a:p>
          <a:p>
            <a:pPr marL="285750" indent="-285750"/>
            <a:r>
              <a:rPr lang="en-US" b="1" dirty="0">
                <a:ea typeface="+mn-lt"/>
                <a:cs typeface="+mn-lt"/>
              </a:rPr>
              <a:t>Monitor Portfolio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Show real-time cash balance, owned shares, and total net worth based on market prices.</a:t>
            </a:r>
            <a:endParaRPr lang="en-US" dirty="0"/>
          </a:p>
          <a:p>
            <a:pPr marL="285750" indent="-285750"/>
            <a:r>
              <a:rPr lang="en-US" b="1" dirty="0">
                <a:ea typeface="+mn-lt"/>
                <a:cs typeface="+mn-lt"/>
              </a:rPr>
              <a:t>Modify Active Orders (Update)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Change the price of unfilled orders after revalidating available cash or shares.</a:t>
            </a:r>
            <a:endParaRPr lang="en-US" dirty="0"/>
          </a:p>
          <a:p>
            <a:pPr marL="285750" indent="-285750"/>
            <a:r>
              <a:rPr lang="en-US" b="1" dirty="0">
                <a:ea typeface="+mn-lt"/>
                <a:cs typeface="+mn-lt"/>
              </a:rPr>
              <a:t>Cancel Orders (Delete)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Cancel unfilled orders and immediately release reserved cash or shares.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84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9186-53A6-2F74-61A6-B3FA3317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Market Simulation Engine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EBE4-B003-3ADF-5D1F-FF32882B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Matching Engine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Background process that matches buy and sell orders and executes trades when prices align.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Market Maker Algorithms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Five automated bot algorithms generate liquidity and drive price movement.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Pattern Generator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Bot behaviors are randomized at startup to create a unique market puzzle each session.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629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39</TotalTime>
  <Words>162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Ion Boardroom</vt:lpstr>
      <vt:lpstr>Project Violet</vt:lpstr>
      <vt:lpstr>The Architecture</vt:lpstr>
      <vt:lpstr>Ladder (Depth of Market)</vt:lpstr>
      <vt:lpstr>Core System Functions</vt:lpstr>
      <vt:lpstr>Trading Operations (CRUD Model)</vt:lpstr>
      <vt:lpstr>Market Simulation 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Nam</dc:creator>
  <cp:lastModifiedBy>Nguyen, Nam</cp:lastModifiedBy>
  <cp:revision>55</cp:revision>
  <dcterms:created xsi:type="dcterms:W3CDTF">2026-01-27T04:06:59Z</dcterms:created>
  <dcterms:modified xsi:type="dcterms:W3CDTF">2026-01-30T05:13:03Z</dcterms:modified>
</cp:coreProperties>
</file>